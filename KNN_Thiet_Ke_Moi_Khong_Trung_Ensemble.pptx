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0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47120" y="641908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ABBCCF"/>
                </a:solidFill>
              </a:defRPr>
            </a:pPr>
            <a:r>
              <a:t>01</a:t>
            </a:r>
          </a:p>
        </p:txBody>
      </p:sp>
      <p:sp>
        <p:nvSpPr>
          <p:cNvPr id="4" name="Oval 3"/>
          <p:cNvSpPr/>
          <p:nvPr/>
        </p:nvSpPr>
        <p:spPr>
          <a:xfrm>
            <a:off x="8778240" y="1371600"/>
            <a:ext cx="201168" cy="201168"/>
          </a:xfrm>
          <a:prstGeom prst="ellipse">
            <a:avLst/>
          </a:prstGeom>
          <a:solidFill>
            <a:srgbClr val="30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01200" y="2011680"/>
            <a:ext cx="164592" cy="164592"/>
          </a:xfrm>
          <a:prstGeom prst="ellipse">
            <a:avLst/>
          </a:prstGeom>
          <a:solidFill>
            <a:srgbClr val="30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1143000"/>
            <a:ext cx="164592" cy="164592"/>
          </a:xfrm>
          <a:prstGeom prst="ellipse">
            <a:avLst/>
          </a:prstGeom>
          <a:solidFill>
            <a:srgbClr val="F4C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966960" y="3017520"/>
            <a:ext cx="219456" cy="219456"/>
          </a:xfrm>
          <a:prstGeom prst="ellipse">
            <a:avLst/>
          </a:prstGeom>
          <a:solidFill>
            <a:srgbClr val="30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869680" y="3383280"/>
            <a:ext cx="164592" cy="164592"/>
          </a:xfrm>
          <a:prstGeom prst="ellipse">
            <a:avLst/>
          </a:prstGeom>
          <a:solidFill>
            <a:srgbClr val="F4C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789920" y="2286000"/>
            <a:ext cx="201168" cy="201168"/>
          </a:xfrm>
          <a:prstGeom prst="ellipse">
            <a:avLst/>
          </a:prstGeom>
          <a:solidFill>
            <a:srgbClr val="30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555480" y="2468880"/>
            <a:ext cx="329184" cy="329184"/>
          </a:xfrm>
          <a:prstGeom prst="ellipse">
            <a:avLst/>
          </a:prstGeom>
          <a:solidFill>
            <a:srgbClr val="F4C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80" y="914400"/>
            <a:ext cx="3200400" cy="3200400"/>
          </a:xfrm>
          <a:prstGeom prst="ellipse">
            <a:avLst/>
          </a:prstGeom>
          <a:noFill/>
          <a:ln w="25400">
            <a:solidFill>
              <a:srgbClr val="30D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234440"/>
            <a:ext cx="65836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5F8FC"/>
                </a:solidFill>
                <a:latin typeface="Aptos"/>
              </a:defRPr>
            </a:pPr>
            <a:r>
              <a:t>K-NEAREST</a:t>
            </a:r>
            <a:br/>
            <a:r>
              <a:t>NEIGHBORS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30632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0D3BE"/>
                </a:solidFill>
                <a:latin typeface="Aptos"/>
              </a:defRPr>
            </a:pPr>
            <a:r>
              <a:t>KNN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3675887"/>
            <a:ext cx="6217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BBCCF"/>
                </a:solidFill>
                <a:latin typeface="Aptos"/>
              </a:defRPr>
            </a:pPr>
            <a:r>
              <a:t>Học máy dựa trên các điểm dữ liệu lân cận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589788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ABBCCF"/>
                </a:solidFill>
                <a:latin typeface="Aptos"/>
              </a:defRPr>
            </a:pPr>
            <a:r>
              <a:t>MACHINE LEARNING • CLASSIFICATION • REGRESSION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0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47120" y="641908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ABBCCF"/>
                </a:solidFill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0D3BE"/>
                </a:solidFill>
                <a:latin typeface="Aptos"/>
              </a:defRPr>
            </a:pPr>
            <a:r>
              <a:t>01 / CONCEPT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F5F8FC"/>
                </a:solidFill>
                <a:latin typeface="Aptos"/>
              </a:defRPr>
            </a:pPr>
            <a:r>
              <a:t>KNN hoạt động dựa trên ý tưởng gì?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3383280" cy="3474720"/>
          </a:xfrm>
          <a:prstGeom prst="roundRect">
            <a:avLst/>
          </a:prstGeom>
          <a:solidFill>
            <a:srgbClr val="122036"/>
          </a:solidFill>
          <a:ln>
            <a:solidFill>
              <a:srgbClr val="23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64008" cy="3474720"/>
          </a:xfrm>
          <a:prstGeom prst="rect">
            <a:avLst/>
          </a:prstGeom>
          <a:solidFill>
            <a:srgbClr val="30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84248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F8FC"/>
                </a:solidFill>
                <a:latin typeface="Aptos"/>
              </a:defRPr>
            </a:pPr>
            <a:r>
              <a:t>01 — Gần nhau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496312"/>
            <a:ext cx="2926080" cy="2606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BBCCF"/>
                </a:solidFill>
                <a:latin typeface="Aptos"/>
              </a:defRPr>
            </a:pPr>
            <a:r>
              <a:t>Những mẫu dữ liệu có đặc điểm giống nhau thường nằm gần nhau trong không gian đặc trưng.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783080"/>
            <a:ext cx="3383280" cy="3474720"/>
          </a:xfrm>
          <a:prstGeom prst="roundRect">
            <a:avLst/>
          </a:prstGeom>
          <a:solidFill>
            <a:srgbClr val="122036"/>
          </a:solidFill>
          <a:ln>
            <a:solidFill>
              <a:srgbClr val="23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783080"/>
            <a:ext cx="64008" cy="3474720"/>
          </a:xfrm>
          <a:prstGeom prst="rect">
            <a:avLst/>
          </a:prstGeom>
          <a:solidFill>
            <a:srgbClr val="F4C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984248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F8FC"/>
                </a:solidFill>
                <a:latin typeface="Aptos"/>
              </a:defRPr>
            </a:pPr>
            <a:r>
              <a:t>02 — Chọn 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496312"/>
            <a:ext cx="2926080" cy="2606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BBCCF"/>
                </a:solidFill>
                <a:latin typeface="Aptos"/>
              </a:defRPr>
            </a:pPr>
            <a:r>
              <a:t>Với một mẫu mới, thuật toán tìm K điểm gần nhất trong tập dữ liệu huấn luyện.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783080"/>
            <a:ext cx="3383280" cy="3474720"/>
          </a:xfrm>
          <a:prstGeom prst="roundRect">
            <a:avLst/>
          </a:prstGeom>
          <a:solidFill>
            <a:srgbClr val="122036"/>
          </a:solidFill>
          <a:ln>
            <a:solidFill>
              <a:srgbClr val="23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783080"/>
            <a:ext cx="64008" cy="3474720"/>
          </a:xfrm>
          <a:prstGeom prst="rect">
            <a:avLst/>
          </a:prstGeom>
          <a:solidFill>
            <a:srgbClr val="30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1984248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F8FC"/>
                </a:solidFill>
                <a:latin typeface="Aptos"/>
              </a:defRPr>
            </a:pPr>
            <a:r>
              <a:t>03 — Dự đoán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496312"/>
            <a:ext cx="2926080" cy="2606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BBCCF"/>
                </a:solidFill>
                <a:latin typeface="Aptos"/>
              </a:defRPr>
            </a:pPr>
            <a:r>
              <a:t>KNN dùng các láng giềng đó để bỏ phiếu cho Classification hoặc tính trung bình cho Regression.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0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47120" y="641908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ABBCCF"/>
                </a:solidFill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0D3BE"/>
                </a:solidFill>
                <a:latin typeface="Aptos"/>
              </a:defRPr>
            </a:pPr>
            <a:r>
              <a:t>02 / DISTANCE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F5F8FC"/>
                </a:solidFill>
                <a:latin typeface="Aptos"/>
              </a:defRPr>
            </a:pPr>
            <a:r>
              <a:t>Khoảng cách quyết định “gần” hay “xa”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5212080" cy="1828800"/>
          </a:xfrm>
          <a:prstGeom prst="roundRect">
            <a:avLst/>
          </a:prstGeom>
          <a:solidFill>
            <a:srgbClr val="122036"/>
          </a:solidFill>
          <a:ln>
            <a:solidFill>
              <a:srgbClr val="23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91640"/>
            <a:ext cx="64008" cy="1828800"/>
          </a:xfrm>
          <a:prstGeom prst="rect">
            <a:avLst/>
          </a:prstGeom>
          <a:solidFill>
            <a:srgbClr val="30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92808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F8FC"/>
                </a:solidFill>
                <a:latin typeface="Aptos"/>
              </a:defRPr>
            </a:pPr>
            <a:r>
              <a:t>Euclidean Distance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404872"/>
            <a:ext cx="47548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BBCCF"/>
                </a:solidFill>
                <a:latin typeface="Aptos"/>
              </a:defRPr>
            </a:pPr>
            <a:r>
              <a:t>√((x₁−x₂)² + (y₁−y₂)²)</a:t>
            </a:r>
            <a:br/>
            <a:r>
              <a:t>Khoảng cách đường thẳng giữa hai điểm.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749039"/>
            <a:ext cx="5212080" cy="1645920"/>
          </a:xfrm>
          <a:prstGeom prst="roundRect">
            <a:avLst/>
          </a:prstGeom>
          <a:solidFill>
            <a:srgbClr val="122036"/>
          </a:solidFill>
          <a:ln>
            <a:solidFill>
              <a:srgbClr val="23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749039"/>
            <a:ext cx="64008" cy="1645920"/>
          </a:xfrm>
          <a:prstGeom prst="rect">
            <a:avLst/>
          </a:prstGeom>
          <a:solidFill>
            <a:srgbClr val="F4C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950207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F8FC"/>
                </a:solidFill>
                <a:latin typeface="Aptos"/>
              </a:defRPr>
            </a:pPr>
            <a:r>
              <a:t>Manhattan Distance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462272"/>
            <a:ext cx="4754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BBCCF"/>
                </a:solidFill>
                <a:latin typeface="Aptos"/>
              </a:defRPr>
            </a:pPr>
            <a:r>
              <a:t>|x₁−x₂| + |y₁−y₂|</a:t>
            </a:r>
            <a:br/>
            <a:r>
              <a:t>Phù hợp khi di chuyển theo từng trục.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0" y="2011680"/>
            <a:ext cx="146304" cy="146304"/>
          </a:xfrm>
          <a:prstGeom prst="ellipse">
            <a:avLst/>
          </a:prstGeom>
          <a:solidFill>
            <a:srgbClr val="30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412480" y="2743200"/>
            <a:ext cx="146304" cy="146304"/>
          </a:xfrm>
          <a:prstGeom prst="ellipse">
            <a:avLst/>
          </a:prstGeom>
          <a:solidFill>
            <a:srgbClr val="30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326880" y="1920240"/>
            <a:ext cx="146304" cy="146304"/>
          </a:xfrm>
          <a:prstGeom prst="ellipse">
            <a:avLst/>
          </a:prstGeom>
          <a:solidFill>
            <a:srgbClr val="30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332720" y="3200400"/>
            <a:ext cx="146304" cy="146304"/>
          </a:xfrm>
          <a:prstGeom prst="ellipse">
            <a:avLst/>
          </a:prstGeom>
          <a:solidFill>
            <a:srgbClr val="30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0" y="3840480"/>
            <a:ext cx="146304" cy="146304"/>
          </a:xfrm>
          <a:prstGeom prst="ellipse">
            <a:avLst/>
          </a:prstGeom>
          <a:solidFill>
            <a:srgbClr val="30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875520" y="4114800"/>
            <a:ext cx="146304" cy="146304"/>
          </a:xfrm>
          <a:prstGeom prst="ellipse">
            <a:avLst/>
          </a:prstGeom>
          <a:solidFill>
            <a:srgbClr val="30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915400" y="2560320"/>
            <a:ext cx="310896" cy="310896"/>
          </a:xfrm>
          <a:prstGeom prst="ellipse">
            <a:avLst/>
          </a:prstGeom>
          <a:solidFill>
            <a:srgbClr val="F4C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49834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F8FC"/>
                </a:solidFill>
                <a:latin typeface="Aptos"/>
              </a:defRPr>
            </a:pPr>
            <a:r>
              <a:t>Chuẩn hóa dữ liệu trước khi tính khoảng cách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0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47120" y="641908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ABBCCF"/>
                </a:solidFill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0D3BE"/>
                </a:solidFill>
                <a:latin typeface="Aptos"/>
              </a:defRPr>
            </a:pPr>
            <a:r>
              <a:t>03 / PREPROCESSING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F5F8FC"/>
                </a:solidFill>
                <a:latin typeface="Aptos"/>
              </a:defRPr>
            </a:pPr>
            <a:r>
              <a:t>Tại sao phải chuẩn hóa dữ liệu?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ABBCCF"/>
                </a:solidFill>
                <a:latin typeface="Aptos"/>
              </a:defRPr>
            </a:pPr>
            <a:r>
              <a:t>Nếu một đặc trưng có thang đo quá lớn, nó có thể chi phối toàn bộ khoảng cách.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514600"/>
            <a:ext cx="3246120" cy="2148840"/>
          </a:xfrm>
          <a:prstGeom prst="roundRect">
            <a:avLst/>
          </a:prstGeom>
          <a:solidFill>
            <a:srgbClr val="122036"/>
          </a:solidFill>
          <a:ln>
            <a:solidFill>
              <a:srgbClr val="23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514600"/>
            <a:ext cx="64008" cy="2148840"/>
          </a:xfrm>
          <a:prstGeom prst="rect">
            <a:avLst/>
          </a:prstGeom>
          <a:solidFill>
            <a:srgbClr val="F4C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715768"/>
            <a:ext cx="2788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5F8FC"/>
                </a:solidFill>
                <a:latin typeface="Aptos"/>
              </a:defRPr>
            </a:pPr>
            <a:r>
              <a:t>Trước chuẩn hóa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27832"/>
            <a:ext cx="2788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BBCCF"/>
                </a:solidFill>
                <a:latin typeface="Aptos"/>
              </a:defRPr>
            </a:pPr>
            <a:r>
              <a:t>Tuổi: 18–60</a:t>
            </a:r>
            <a:br/>
            <a:r>
              <a:t>Thu nhập: 5.000–50.000</a:t>
            </a:r>
            <a:br/>
            <a:r>
              <a:t>→ Thu nhập dễ lấn át.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2514600"/>
            <a:ext cx="3246120" cy="2148840"/>
          </a:xfrm>
          <a:prstGeom prst="roundRect">
            <a:avLst/>
          </a:prstGeom>
          <a:solidFill>
            <a:srgbClr val="122036"/>
          </a:solidFill>
          <a:ln>
            <a:solidFill>
              <a:srgbClr val="23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2514600"/>
            <a:ext cx="64008" cy="2148840"/>
          </a:xfrm>
          <a:prstGeom prst="rect">
            <a:avLst/>
          </a:prstGeom>
          <a:solidFill>
            <a:srgbClr val="30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2715768"/>
            <a:ext cx="2788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5F8FC"/>
                </a:solidFill>
                <a:latin typeface="Aptos"/>
              </a:defRPr>
            </a:pPr>
            <a:r>
              <a:t>Sau chuẩn hóa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227832"/>
            <a:ext cx="2788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BBCCF"/>
                </a:solidFill>
                <a:latin typeface="Aptos"/>
              </a:defRPr>
            </a:pPr>
            <a:r>
              <a:t>Đưa các đặc trưng về thang đo tương đồng.</a:t>
            </a:r>
            <a:br/>
            <a:r>
              <a:t>→ Khoảng cách công bằng hơn.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2514600"/>
            <a:ext cx="3246120" cy="2148840"/>
          </a:xfrm>
          <a:prstGeom prst="roundRect">
            <a:avLst/>
          </a:prstGeom>
          <a:solidFill>
            <a:srgbClr val="122036"/>
          </a:solidFill>
          <a:ln>
            <a:solidFill>
              <a:srgbClr val="23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83879" y="2514600"/>
            <a:ext cx="64008" cy="2148840"/>
          </a:xfrm>
          <a:prstGeom prst="rect">
            <a:avLst/>
          </a:prstGeom>
          <a:solidFill>
            <a:srgbClr val="30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2715768"/>
            <a:ext cx="2788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5F8FC"/>
                </a:solidFill>
                <a:latin typeface="Aptos"/>
              </a:defRPr>
            </a:pPr>
            <a:r>
              <a:t>Công cụ phổ biến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3227832"/>
            <a:ext cx="2788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BBCCF"/>
                </a:solidFill>
                <a:latin typeface="Aptos"/>
              </a:defRPr>
            </a:pPr>
            <a:r>
              <a:t>StandardScaler</a:t>
            </a:r>
            <a:br/>
            <a:r>
              <a:t>MinMaxScaler</a:t>
            </a:r>
            <a:br/>
            <a:r>
              <a:t>Pipeline của scikit-learn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0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47120" y="641908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ABBCCF"/>
                </a:solidFill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0D3BE"/>
                </a:solidFill>
                <a:latin typeface="Aptos"/>
              </a:defRPr>
            </a:pPr>
            <a:r>
              <a:t>04 / ALGORITHM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F5F8FC"/>
                </a:solidFill>
                <a:latin typeface="Aptos"/>
              </a:defRPr>
            </a:pPr>
            <a:r>
              <a:t>Ba bước để tạo một dự đoán KNN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1874519"/>
            <a:ext cx="658368" cy="658368"/>
          </a:xfrm>
          <a:prstGeom prst="ellipse">
            <a:avLst/>
          </a:prstGeom>
          <a:solidFill>
            <a:srgbClr val="30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29968"/>
            <a:ext cx="6583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91223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F8FC"/>
                </a:solidFill>
                <a:latin typeface="Aptos"/>
              </a:defRPr>
            </a:pPr>
            <a:r>
              <a:t>Chọn 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29000"/>
            <a:ext cx="2971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BBCCF"/>
                </a:solidFill>
                <a:latin typeface="Aptos"/>
              </a:defRPr>
            </a:pPr>
            <a:r>
              <a:t>Xác định số láng giềng cần quan sát.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86200" y="19659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4C95D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1" name="Oval 10"/>
          <p:cNvSpPr/>
          <p:nvPr/>
        </p:nvSpPr>
        <p:spPr>
          <a:xfrm>
            <a:off x="4480559" y="1874519"/>
            <a:ext cx="658368" cy="658368"/>
          </a:xfrm>
          <a:prstGeom prst="ellipse">
            <a:avLst/>
          </a:prstGeom>
          <a:solidFill>
            <a:srgbClr val="30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59" y="2029968"/>
            <a:ext cx="6583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9122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59" y="274320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F8FC"/>
                </a:solidFill>
                <a:latin typeface="Aptos"/>
              </a:defRPr>
            </a:pPr>
            <a:r>
              <a:t>Tính khoảng cách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59" y="3429000"/>
            <a:ext cx="2971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BBCCF"/>
                </a:solidFill>
                <a:latin typeface="Aptos"/>
              </a:defRPr>
            </a:pPr>
            <a:r>
              <a:t>Đo khoảng cách từ mẫu mới tới dữ liệu huấn luyện.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19659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4C95D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0" y="1874519"/>
            <a:ext cx="658368" cy="658368"/>
          </a:xfrm>
          <a:prstGeom prst="ellipse">
            <a:avLst/>
          </a:prstGeom>
          <a:solidFill>
            <a:srgbClr val="30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2029968"/>
            <a:ext cx="6583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9122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74320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F8FC"/>
                </a:solidFill>
                <a:latin typeface="Aptos"/>
              </a:defRPr>
            </a:pPr>
            <a:r>
              <a:t>Dự đoán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429000"/>
            <a:ext cx="2971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BBCCF"/>
                </a:solidFill>
                <a:latin typeface="Aptos"/>
              </a:defRPr>
            </a:pPr>
            <a:r>
              <a:t>Voting cho Classification hoặc trung bình cho Regression.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0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47120" y="641908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ABBCCF"/>
                </a:solidFill>
              </a:defRPr>
            </a:pPr>
            <a: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0D3BE"/>
                </a:solidFill>
                <a:latin typeface="Aptos"/>
              </a:defRPr>
            </a:pPr>
            <a:r>
              <a:t>05 /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F5F8FC"/>
                </a:solidFill>
                <a:latin typeface="Aptos"/>
              </a:defRPr>
            </a:pPr>
            <a:r>
              <a:t>Quy trình hoạt động của KNN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0D3BE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17320" y="1435608"/>
            <a:ext cx="4297680" cy="822960"/>
          </a:xfrm>
          <a:prstGeom prst="roundRect">
            <a:avLst/>
          </a:prstGeom>
          <a:solidFill>
            <a:srgbClr val="122036"/>
          </a:solidFill>
          <a:ln>
            <a:solidFill>
              <a:srgbClr val="23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417320" y="1435608"/>
            <a:ext cx="64008" cy="822960"/>
          </a:xfrm>
          <a:prstGeom prst="rect">
            <a:avLst/>
          </a:prstGeom>
          <a:solidFill>
            <a:srgbClr val="30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1636776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8FC"/>
                </a:solidFill>
                <a:latin typeface="Aptos"/>
              </a:defRPr>
            </a:pPr>
            <a:r>
              <a:t>1. Dữ liệu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148840"/>
            <a:ext cx="3840480" cy="-45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BBCCF"/>
                </a:solidFill>
                <a:latin typeface="Aptos"/>
              </a:defRPr>
            </a:pPr>
            <a:r>
              <a:t>Làm sạch + chọn đặc trưng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7830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ABBCCF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74320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0D3BE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17320" y="2578608"/>
            <a:ext cx="4297680" cy="822960"/>
          </a:xfrm>
          <a:prstGeom prst="roundRect">
            <a:avLst/>
          </a:prstGeom>
          <a:solidFill>
            <a:srgbClr val="122036"/>
          </a:solidFill>
          <a:ln>
            <a:solidFill>
              <a:srgbClr val="23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417320" y="2578608"/>
            <a:ext cx="64008" cy="822960"/>
          </a:xfrm>
          <a:prstGeom prst="rect">
            <a:avLst/>
          </a:prstGeom>
          <a:solidFill>
            <a:srgbClr val="30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45920" y="2779776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8FC"/>
                </a:solidFill>
                <a:latin typeface="Aptos"/>
              </a:defRPr>
            </a:pPr>
            <a:r>
              <a:t>2. Scale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3291839"/>
            <a:ext cx="3840480" cy="-45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BBCCF"/>
                </a:solidFill>
                <a:latin typeface="Aptos"/>
              </a:defRPr>
            </a:pPr>
            <a:r>
              <a:t>Chuẩn hóa các feature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29260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ABBCCF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88620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0D3BE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417320" y="3721608"/>
            <a:ext cx="4297680" cy="822960"/>
          </a:xfrm>
          <a:prstGeom prst="roundRect">
            <a:avLst/>
          </a:prstGeom>
          <a:solidFill>
            <a:srgbClr val="122036"/>
          </a:solidFill>
          <a:ln>
            <a:solidFill>
              <a:srgbClr val="23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417320" y="3721608"/>
            <a:ext cx="64008" cy="822960"/>
          </a:xfrm>
          <a:prstGeom prst="rect">
            <a:avLst/>
          </a:prstGeom>
          <a:solidFill>
            <a:srgbClr val="30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45920" y="3922776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8FC"/>
                </a:solidFill>
                <a:latin typeface="Aptos"/>
              </a:defRPr>
            </a:pPr>
            <a:r>
              <a:t>3. Neighbors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4434840"/>
            <a:ext cx="3840480" cy="-45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BBCCF"/>
                </a:solidFill>
                <a:latin typeface="Aptos"/>
              </a:defRPr>
            </a:pPr>
            <a:r>
              <a:t>Tìm K điểm gần nhất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40690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ABBCCF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02920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0D3BE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17320" y="4864608"/>
            <a:ext cx="4297680" cy="822960"/>
          </a:xfrm>
          <a:prstGeom prst="roundRect">
            <a:avLst/>
          </a:prstGeom>
          <a:solidFill>
            <a:srgbClr val="122036"/>
          </a:solidFill>
          <a:ln>
            <a:solidFill>
              <a:srgbClr val="23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17320" y="4864608"/>
            <a:ext cx="64008" cy="822960"/>
          </a:xfrm>
          <a:prstGeom prst="rect">
            <a:avLst/>
          </a:prstGeom>
          <a:solidFill>
            <a:srgbClr val="30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45920" y="5065776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8FC"/>
                </a:solidFill>
                <a:latin typeface="Aptos"/>
              </a:defRPr>
            </a:pPr>
            <a:r>
              <a:t>4. Predict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45920" y="5577840"/>
            <a:ext cx="3840480" cy="-45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BBCCF"/>
                </a:solidFill>
                <a:latin typeface="Aptos"/>
              </a:defRPr>
            </a:pPr>
            <a:r>
              <a:t>Voting / Average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1828800"/>
            <a:ext cx="42976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5F8FC"/>
                </a:solidFill>
                <a:latin typeface="Aptos"/>
              </a:defRPr>
            </a:pPr>
            <a:r>
              <a:t>KNN gần như không “học” tham số trong giai đoạn training; phần tính toán chính xảy ra khi dự đoán.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0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47120" y="641908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ABBCCF"/>
                </a:solidFill>
              </a:defRPr>
            </a:pPr>
            <a: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0D3BE"/>
                </a:solidFill>
                <a:latin typeface="Aptos"/>
              </a:defRPr>
            </a:pPr>
            <a:r>
              <a:t>06 / HYPERPARAMETER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F5F8FC"/>
                </a:solidFill>
                <a:latin typeface="Aptos"/>
              </a:defRPr>
            </a:pPr>
            <a:r>
              <a:t>Chọn K như thế nào?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3383280" cy="3566160"/>
          </a:xfrm>
          <a:prstGeom prst="roundRect">
            <a:avLst/>
          </a:prstGeom>
          <a:solidFill>
            <a:srgbClr val="122036"/>
          </a:solidFill>
          <a:ln>
            <a:solidFill>
              <a:srgbClr val="23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45920"/>
            <a:ext cx="64008" cy="3566160"/>
          </a:xfrm>
          <a:prstGeom prst="rect">
            <a:avLst/>
          </a:prstGeom>
          <a:solidFill>
            <a:srgbClr val="F4C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47088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F8FC"/>
                </a:solidFill>
                <a:latin typeface="Aptos"/>
              </a:defRPr>
            </a:pPr>
            <a:r>
              <a:t>K nhỏ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59152"/>
            <a:ext cx="292608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BBCCF"/>
                </a:solidFill>
                <a:latin typeface="Aptos"/>
              </a:defRPr>
            </a:pPr>
            <a:r>
              <a:t>• Linh hoạt</a:t>
            </a:r>
            <a:br/>
            <a:r>
              <a:t>• Nhạy với nhiễu</a:t>
            </a:r>
            <a:br/>
            <a:r>
              <a:t>• Dễ overfit</a:t>
            </a:r>
            <a:br/>
            <a:br/>
            <a:r>
              <a:t>Phù hợp khi cần mô hình bám sát dữ liệu cục bộ.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45920"/>
            <a:ext cx="3383280" cy="3566160"/>
          </a:xfrm>
          <a:prstGeom prst="roundRect">
            <a:avLst/>
          </a:prstGeom>
          <a:solidFill>
            <a:srgbClr val="122036"/>
          </a:solidFill>
          <a:ln>
            <a:solidFill>
              <a:srgbClr val="23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645920"/>
            <a:ext cx="64008" cy="3566160"/>
          </a:xfrm>
          <a:prstGeom prst="rect">
            <a:avLst/>
          </a:prstGeom>
          <a:solidFill>
            <a:srgbClr val="30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847088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F8FC"/>
                </a:solidFill>
                <a:latin typeface="Aptos"/>
              </a:defRPr>
            </a:pPr>
            <a:r>
              <a:t>K lớn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359152"/>
            <a:ext cx="292608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BBCCF"/>
                </a:solidFill>
                <a:latin typeface="Aptos"/>
              </a:defRPr>
            </a:pPr>
            <a:r>
              <a:t>• Ổn định hơn</a:t>
            </a:r>
            <a:br/>
            <a:r>
              <a:t>• Ít nhạy với nhiễu</a:t>
            </a:r>
            <a:br/>
            <a:r>
              <a:t>• Có thể underfit</a:t>
            </a:r>
            <a:br/>
            <a:br/>
            <a:r>
              <a:t>Ranh giới quyết định trở nên đơn giản hơn.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645920"/>
            <a:ext cx="3383280" cy="3566160"/>
          </a:xfrm>
          <a:prstGeom prst="roundRect">
            <a:avLst/>
          </a:prstGeom>
          <a:solidFill>
            <a:srgbClr val="122036"/>
          </a:solidFill>
          <a:ln>
            <a:solidFill>
              <a:srgbClr val="23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645920"/>
            <a:ext cx="64008" cy="3566160"/>
          </a:xfrm>
          <a:prstGeom prst="rect">
            <a:avLst/>
          </a:prstGeom>
          <a:solidFill>
            <a:srgbClr val="30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1847088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F8FC"/>
                </a:solidFill>
                <a:latin typeface="Aptos"/>
              </a:defRPr>
            </a:pPr>
            <a:r>
              <a:t>Cross-Validation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359152"/>
            <a:ext cx="292608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BBCCF"/>
                </a:solidFill>
                <a:latin typeface="Aptos"/>
              </a:defRPr>
            </a:pPr>
            <a:r>
              <a:t>Thử nhiều giá trị K trên tập validation/CV và chọn K cho hiệu năng tốt nhất.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0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47120" y="641908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ABBCCF"/>
                </a:solidFill>
              </a:defRPr>
            </a:pPr>
            <a: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0D3BE"/>
                </a:solidFill>
                <a:latin typeface="Aptos"/>
              </a:defRPr>
            </a:pPr>
            <a:r>
              <a:t>07 / TASKS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F5F8FC"/>
                </a:solidFill>
                <a:latin typeface="Aptos"/>
              </a:defRPr>
            </a:pPr>
            <a:r>
              <a:t>KNN cho Classification và Regression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212080" cy="3383280"/>
          </a:xfrm>
          <a:prstGeom prst="roundRect">
            <a:avLst/>
          </a:prstGeom>
          <a:solidFill>
            <a:srgbClr val="122036"/>
          </a:solidFill>
          <a:ln>
            <a:solidFill>
              <a:srgbClr val="23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737360"/>
            <a:ext cx="64008" cy="3383280"/>
          </a:xfrm>
          <a:prstGeom prst="rect">
            <a:avLst/>
          </a:prstGeom>
          <a:solidFill>
            <a:srgbClr val="30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38528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5F8FC"/>
                </a:solidFill>
                <a:latin typeface="Aptos"/>
              </a:defRPr>
            </a:pPr>
            <a:r>
              <a:t>CLASSIFICATION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450591"/>
            <a:ext cx="475488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BBCCF"/>
                </a:solidFill>
                <a:latin typeface="Aptos"/>
              </a:defRPr>
            </a:pPr>
            <a:r>
              <a:t>KNN đếm phiếu của K láng giềng.</a:t>
            </a:r>
            <a:br/>
            <a:br/>
            <a:r>
              <a:t>Lớp xuất hiện nhiều nhất → kết quả dự đoán.</a:t>
            </a:r>
            <a:br/>
            <a:br/>
            <a:r>
              <a:t>Có thể dùng weights='distance' để điểm gần hơn có ảnh hưởng lớn hơn.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737360"/>
            <a:ext cx="5212080" cy="3383280"/>
          </a:xfrm>
          <a:prstGeom prst="roundRect">
            <a:avLst/>
          </a:prstGeom>
          <a:solidFill>
            <a:srgbClr val="122036"/>
          </a:solidFill>
          <a:ln>
            <a:solidFill>
              <a:srgbClr val="23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737360"/>
            <a:ext cx="64008" cy="3383280"/>
          </a:xfrm>
          <a:prstGeom prst="rect">
            <a:avLst/>
          </a:prstGeom>
          <a:solidFill>
            <a:srgbClr val="F4C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938528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5F8FC"/>
                </a:solidFill>
                <a:latin typeface="Aptos"/>
              </a:defRPr>
            </a:pPr>
            <a:r>
              <a:t>REGRESSION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450591"/>
            <a:ext cx="475488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BBCCF"/>
                </a:solidFill>
                <a:latin typeface="Aptos"/>
              </a:defRPr>
            </a:pPr>
            <a:r>
              <a:t>KNN lấy trung bình giá trị của K láng giềng.</a:t>
            </a:r>
            <a:br/>
            <a:br/>
            <a:r>
              <a:t>Có thể dùng trung bình có trọng số theo khoảng cách.</a:t>
            </a:r>
            <a:br/>
            <a:br/>
            <a:r>
              <a:t>Đầu ra là một giá trị số.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0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47120" y="641908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ABBCCF"/>
                </a:solidFill>
              </a:defRPr>
            </a:pPr>
            <a: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0D3BE"/>
                </a:solidFill>
                <a:latin typeface="Aptos"/>
              </a:defRPr>
            </a:pPr>
            <a:r>
              <a:t>08 /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F5F8FC"/>
                </a:solidFill>
                <a:latin typeface="Aptos"/>
              </a:defRPr>
            </a:pPr>
            <a:r>
              <a:t>Đánh giá hiệu suất KNN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5074920" cy="1600200"/>
          </a:xfrm>
          <a:prstGeom prst="roundRect">
            <a:avLst/>
          </a:prstGeom>
          <a:solidFill>
            <a:srgbClr val="122036"/>
          </a:solidFill>
          <a:ln>
            <a:solidFill>
              <a:srgbClr val="23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00200"/>
            <a:ext cx="64008" cy="1600200"/>
          </a:xfrm>
          <a:prstGeom prst="rect">
            <a:avLst/>
          </a:prstGeom>
          <a:solidFill>
            <a:srgbClr val="30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01368"/>
            <a:ext cx="4617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5F8FC"/>
                </a:solidFill>
                <a:latin typeface="Aptos"/>
              </a:defRPr>
            </a:pPr>
            <a:r>
              <a:t>Accuracy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13432"/>
            <a:ext cx="4617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BBCCF"/>
                </a:solidFill>
                <a:latin typeface="Aptos"/>
              </a:defRPr>
            </a:pPr>
            <a:r>
              <a:t>Tỷ lệ dự đoán đúng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00200"/>
            <a:ext cx="5074920" cy="1600200"/>
          </a:xfrm>
          <a:prstGeom prst="roundRect">
            <a:avLst/>
          </a:prstGeom>
          <a:solidFill>
            <a:srgbClr val="122036"/>
          </a:solidFill>
          <a:ln>
            <a:solidFill>
              <a:srgbClr val="23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600200"/>
            <a:ext cx="64008" cy="1600200"/>
          </a:xfrm>
          <a:prstGeom prst="rect">
            <a:avLst/>
          </a:prstGeom>
          <a:solidFill>
            <a:srgbClr val="F4C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801368"/>
            <a:ext cx="4617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5F8FC"/>
                </a:solidFill>
                <a:latin typeface="Aptos"/>
              </a:defRPr>
            </a:pPr>
            <a:r>
              <a:t>Precision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313432"/>
            <a:ext cx="4617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BBCCF"/>
                </a:solidFill>
                <a:latin typeface="Aptos"/>
              </a:defRPr>
            </a:pPr>
            <a:r>
              <a:t>Độ chính xác của dự đoán dương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657600"/>
            <a:ext cx="5074920" cy="1600200"/>
          </a:xfrm>
          <a:prstGeom prst="roundRect">
            <a:avLst/>
          </a:prstGeom>
          <a:solidFill>
            <a:srgbClr val="122036"/>
          </a:solidFill>
          <a:ln>
            <a:solidFill>
              <a:srgbClr val="23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657600"/>
            <a:ext cx="64008" cy="1600200"/>
          </a:xfrm>
          <a:prstGeom prst="rect">
            <a:avLst/>
          </a:prstGeom>
          <a:solidFill>
            <a:srgbClr val="30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858768"/>
            <a:ext cx="4617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5F8FC"/>
                </a:solidFill>
                <a:latin typeface="Aptos"/>
              </a:defRPr>
            </a:pPr>
            <a:r>
              <a:t>Recall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370832"/>
            <a:ext cx="4617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BBCCF"/>
                </a:solidFill>
                <a:latin typeface="Aptos"/>
              </a:defRPr>
            </a:pPr>
            <a:r>
              <a:t>Khả năng tìm đúng mẫu dương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657600"/>
            <a:ext cx="5074920" cy="1600200"/>
          </a:xfrm>
          <a:prstGeom prst="roundRect">
            <a:avLst/>
          </a:prstGeom>
          <a:solidFill>
            <a:srgbClr val="122036"/>
          </a:solidFill>
          <a:ln>
            <a:solidFill>
              <a:srgbClr val="23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3657600"/>
            <a:ext cx="64008" cy="1600200"/>
          </a:xfrm>
          <a:prstGeom prst="rect">
            <a:avLst/>
          </a:prstGeom>
          <a:solidFill>
            <a:srgbClr val="F4C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858768"/>
            <a:ext cx="4617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5F8FC"/>
                </a:solidFill>
                <a:latin typeface="Aptos"/>
              </a:defRPr>
            </a:pPr>
            <a:r>
              <a:t>F1-score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370832"/>
            <a:ext cx="4617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BBCCF"/>
                </a:solidFill>
                <a:latin typeface="Aptos"/>
              </a:defRPr>
            </a:pPr>
            <a:r>
              <a:t>Cân bằng Precision và Recall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80644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5F8FC"/>
                </a:solidFill>
                <a:latin typeface="Aptos"/>
              </a:defRPr>
            </a:pPr>
            <a:r>
              <a:t>Quy trình: Scale → thử K → Cross-Validation → chọn K → đánh giá trên test set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0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47120" y="641908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ABBCCF"/>
                </a:solidFill>
              </a:defRPr>
            </a:pPr>
            <a: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0D3BE"/>
                </a:solidFill>
                <a:latin typeface="Aptos"/>
              </a:defRPr>
            </a:pPr>
            <a:r>
              <a:t>09 /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F5F8FC"/>
                </a:solidFill>
                <a:latin typeface="Aptos"/>
              </a:defRPr>
            </a:pPr>
            <a:r>
              <a:t>So sánh các lựa chọn trong KNN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2286000" cy="777240"/>
          </a:xfrm>
          <a:prstGeom prst="roundRect">
            <a:avLst/>
          </a:prstGeom>
          <a:solidFill>
            <a:srgbClr val="122036"/>
          </a:solidFill>
          <a:ln>
            <a:solidFill>
              <a:srgbClr val="23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00200"/>
            <a:ext cx="64008" cy="777240"/>
          </a:xfrm>
          <a:prstGeom prst="rect">
            <a:avLst/>
          </a:prstGeom>
          <a:solidFill>
            <a:srgbClr val="30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0136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8FC"/>
                </a:solidFill>
                <a:latin typeface="Aptos"/>
              </a:defRPr>
            </a:pPr>
            <a:r>
              <a:t>Tiêu chí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13432"/>
            <a:ext cx="1828800" cy="-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BBCCF"/>
                </a:solidFill>
                <a:latin typeface="Aptos"/>
              </a:defRPr>
            </a:pPr>
          </a:p>
        </p:txBody>
      </p:sp>
      <p:sp>
        <p:nvSpPr>
          <p:cNvPr id="10" name="Rounded Rectangle 9"/>
          <p:cNvSpPr/>
          <p:nvPr/>
        </p:nvSpPr>
        <p:spPr>
          <a:xfrm>
            <a:off x="2926080" y="1600200"/>
            <a:ext cx="4297680" cy="777240"/>
          </a:xfrm>
          <a:prstGeom prst="roundRect">
            <a:avLst/>
          </a:prstGeom>
          <a:solidFill>
            <a:srgbClr val="122036"/>
          </a:solidFill>
          <a:ln>
            <a:solidFill>
              <a:srgbClr val="23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926080" y="1600200"/>
            <a:ext cx="64008" cy="777240"/>
          </a:xfrm>
          <a:prstGeom prst="rect">
            <a:avLst/>
          </a:prstGeom>
          <a:solidFill>
            <a:srgbClr val="F4C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54680" y="1801368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8FC"/>
                </a:solidFill>
                <a:latin typeface="Aptos"/>
              </a:defRPr>
            </a:pPr>
            <a:r>
              <a:t>Classification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54680" y="2313432"/>
            <a:ext cx="3840480" cy="-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BBCCF"/>
                </a:solidFill>
                <a:latin typeface="Aptos"/>
              </a:defRPr>
            </a:pPr>
          </a:p>
        </p:txBody>
      </p:sp>
      <p:sp>
        <p:nvSpPr>
          <p:cNvPr id="14" name="Rounded Rectangle 13"/>
          <p:cNvSpPr/>
          <p:nvPr/>
        </p:nvSpPr>
        <p:spPr>
          <a:xfrm>
            <a:off x="7223760" y="1600200"/>
            <a:ext cx="4297680" cy="777240"/>
          </a:xfrm>
          <a:prstGeom prst="roundRect">
            <a:avLst/>
          </a:prstGeom>
          <a:solidFill>
            <a:srgbClr val="122036"/>
          </a:solidFill>
          <a:ln>
            <a:solidFill>
              <a:srgbClr val="23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223760" y="1600200"/>
            <a:ext cx="64008" cy="777240"/>
          </a:xfrm>
          <a:prstGeom prst="rect">
            <a:avLst/>
          </a:prstGeom>
          <a:solidFill>
            <a:srgbClr val="F4C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52360" y="1801368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8FC"/>
                </a:solidFill>
                <a:latin typeface="Aptos"/>
              </a:defRPr>
            </a:pPr>
            <a:r>
              <a:t>Regression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2360" y="2313432"/>
            <a:ext cx="3840480" cy="-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BBCCF"/>
                </a:solidFill>
                <a:latin typeface="Aptos"/>
              </a:defRPr>
            </a:pPr>
          </a:p>
        </p:txBody>
      </p:sp>
      <p:sp>
        <p:nvSpPr>
          <p:cNvPr id="18" name="Rounded Rectangle 17"/>
          <p:cNvSpPr/>
          <p:nvPr/>
        </p:nvSpPr>
        <p:spPr>
          <a:xfrm>
            <a:off x="640080" y="2496312"/>
            <a:ext cx="2286000" cy="621792"/>
          </a:xfrm>
          <a:prstGeom prst="roundRect">
            <a:avLst/>
          </a:prstGeom>
          <a:solidFill>
            <a:srgbClr val="122036"/>
          </a:solidFill>
          <a:ln>
            <a:solidFill>
              <a:srgbClr val="23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2496312"/>
            <a:ext cx="64008" cy="621792"/>
          </a:xfrm>
          <a:prstGeom prst="rect">
            <a:avLst/>
          </a:prstGeom>
          <a:solidFill>
            <a:srgbClr val="30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26974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F8FC"/>
                </a:solidFill>
                <a:latin typeface="Aptos"/>
              </a:defRPr>
            </a:pPr>
            <a:r>
              <a:t>Đầu 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209544"/>
            <a:ext cx="1828800" cy="-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BBCCF"/>
                </a:solidFill>
                <a:latin typeface="Aptos"/>
              </a:defRPr>
            </a:pPr>
          </a:p>
        </p:txBody>
      </p:sp>
      <p:sp>
        <p:nvSpPr>
          <p:cNvPr id="22" name="Rounded Rectangle 21"/>
          <p:cNvSpPr/>
          <p:nvPr/>
        </p:nvSpPr>
        <p:spPr>
          <a:xfrm>
            <a:off x="2926080" y="2496312"/>
            <a:ext cx="4297680" cy="621792"/>
          </a:xfrm>
          <a:prstGeom prst="roundRect">
            <a:avLst/>
          </a:prstGeom>
          <a:solidFill>
            <a:srgbClr val="122036"/>
          </a:solidFill>
          <a:ln>
            <a:solidFill>
              <a:srgbClr val="23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26080" y="2496312"/>
            <a:ext cx="64008" cy="621792"/>
          </a:xfrm>
          <a:prstGeom prst="rect">
            <a:avLst/>
          </a:prstGeom>
          <a:solidFill>
            <a:srgbClr val="50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54680" y="269748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F8FC"/>
                </a:solidFill>
                <a:latin typeface="Aptos"/>
              </a:defRPr>
            </a:pPr>
            <a:r>
              <a:t>Nhãn lớp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54680" y="3209544"/>
            <a:ext cx="3840480" cy="-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BBCCF"/>
                </a:solidFill>
                <a:latin typeface="Aptos"/>
              </a:defRPr>
            </a:pPr>
          </a:p>
        </p:txBody>
      </p:sp>
      <p:sp>
        <p:nvSpPr>
          <p:cNvPr id="26" name="Rounded Rectangle 25"/>
          <p:cNvSpPr/>
          <p:nvPr/>
        </p:nvSpPr>
        <p:spPr>
          <a:xfrm>
            <a:off x="7223760" y="2496312"/>
            <a:ext cx="4297680" cy="621792"/>
          </a:xfrm>
          <a:prstGeom prst="roundRect">
            <a:avLst/>
          </a:prstGeom>
          <a:solidFill>
            <a:srgbClr val="122036"/>
          </a:solidFill>
          <a:ln>
            <a:solidFill>
              <a:srgbClr val="23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223760" y="2496312"/>
            <a:ext cx="64008" cy="621792"/>
          </a:xfrm>
          <a:prstGeom prst="rect">
            <a:avLst/>
          </a:prstGeom>
          <a:solidFill>
            <a:srgbClr val="50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52360" y="269748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F8FC"/>
                </a:solidFill>
                <a:latin typeface="Aptos"/>
              </a:defRPr>
            </a:pPr>
            <a:r>
              <a:t>Giá trị số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2360" y="3209544"/>
            <a:ext cx="3840480" cy="-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BBCCF"/>
                </a:solidFill>
                <a:latin typeface="Aptos"/>
              </a:defRPr>
            </a:pPr>
          </a:p>
        </p:txBody>
      </p:sp>
      <p:sp>
        <p:nvSpPr>
          <p:cNvPr id="30" name="Rounded Rectangle 29"/>
          <p:cNvSpPr/>
          <p:nvPr/>
        </p:nvSpPr>
        <p:spPr>
          <a:xfrm>
            <a:off x="640080" y="3273552"/>
            <a:ext cx="2286000" cy="621792"/>
          </a:xfrm>
          <a:prstGeom prst="roundRect">
            <a:avLst/>
          </a:prstGeom>
          <a:solidFill>
            <a:srgbClr val="122036"/>
          </a:solidFill>
          <a:ln>
            <a:solidFill>
              <a:srgbClr val="23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" y="3273552"/>
            <a:ext cx="64008" cy="621792"/>
          </a:xfrm>
          <a:prstGeom prst="rect">
            <a:avLst/>
          </a:prstGeom>
          <a:solidFill>
            <a:srgbClr val="30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34747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F8FC"/>
                </a:solidFill>
                <a:latin typeface="Aptos"/>
              </a:defRPr>
            </a:pPr>
            <a:r>
              <a:t>Dự đoán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" y="3986784"/>
            <a:ext cx="1828800" cy="-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BBCCF"/>
                </a:solidFill>
                <a:latin typeface="Aptos"/>
              </a:defRPr>
            </a:pPr>
          </a:p>
        </p:txBody>
      </p:sp>
      <p:sp>
        <p:nvSpPr>
          <p:cNvPr id="34" name="Rounded Rectangle 33"/>
          <p:cNvSpPr/>
          <p:nvPr/>
        </p:nvSpPr>
        <p:spPr>
          <a:xfrm>
            <a:off x="2926080" y="3273552"/>
            <a:ext cx="4297680" cy="621792"/>
          </a:xfrm>
          <a:prstGeom prst="roundRect">
            <a:avLst/>
          </a:prstGeom>
          <a:solidFill>
            <a:srgbClr val="122036"/>
          </a:solidFill>
          <a:ln>
            <a:solidFill>
              <a:srgbClr val="23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926080" y="3273552"/>
            <a:ext cx="64008" cy="621792"/>
          </a:xfrm>
          <a:prstGeom prst="rect">
            <a:avLst/>
          </a:prstGeom>
          <a:solidFill>
            <a:srgbClr val="50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154680" y="347472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F8FC"/>
                </a:solidFill>
                <a:latin typeface="Aptos"/>
              </a:defRPr>
            </a:pPr>
            <a:r>
              <a:t>Majority Voting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54680" y="3986784"/>
            <a:ext cx="3840480" cy="-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BBCCF"/>
                </a:solidFill>
                <a:latin typeface="Aptos"/>
              </a:defRPr>
            </a:pPr>
          </a:p>
        </p:txBody>
      </p:sp>
      <p:sp>
        <p:nvSpPr>
          <p:cNvPr id="38" name="Rounded Rectangle 37"/>
          <p:cNvSpPr/>
          <p:nvPr/>
        </p:nvSpPr>
        <p:spPr>
          <a:xfrm>
            <a:off x="7223760" y="3273552"/>
            <a:ext cx="4297680" cy="621792"/>
          </a:xfrm>
          <a:prstGeom prst="roundRect">
            <a:avLst/>
          </a:prstGeom>
          <a:solidFill>
            <a:srgbClr val="122036"/>
          </a:solidFill>
          <a:ln>
            <a:solidFill>
              <a:srgbClr val="23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223760" y="3273552"/>
            <a:ext cx="64008" cy="621792"/>
          </a:xfrm>
          <a:prstGeom prst="rect">
            <a:avLst/>
          </a:prstGeom>
          <a:solidFill>
            <a:srgbClr val="50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452360" y="347472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F8FC"/>
                </a:solidFill>
                <a:latin typeface="Aptos"/>
              </a:defRPr>
            </a:pPr>
            <a:r>
              <a:t>Trung bình K láng giềng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52360" y="3986784"/>
            <a:ext cx="3840480" cy="-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BBCCF"/>
                </a:solidFill>
                <a:latin typeface="Aptos"/>
              </a:defRPr>
            </a:pPr>
          </a:p>
        </p:txBody>
      </p:sp>
      <p:sp>
        <p:nvSpPr>
          <p:cNvPr id="42" name="Rounded Rectangle 41"/>
          <p:cNvSpPr/>
          <p:nvPr/>
        </p:nvSpPr>
        <p:spPr>
          <a:xfrm>
            <a:off x="640080" y="4050791"/>
            <a:ext cx="2286000" cy="621792"/>
          </a:xfrm>
          <a:prstGeom prst="roundRect">
            <a:avLst/>
          </a:prstGeom>
          <a:solidFill>
            <a:srgbClr val="122036"/>
          </a:solidFill>
          <a:ln>
            <a:solidFill>
              <a:srgbClr val="23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40080" y="4050791"/>
            <a:ext cx="64008" cy="621792"/>
          </a:xfrm>
          <a:prstGeom prst="rect">
            <a:avLst/>
          </a:prstGeom>
          <a:solidFill>
            <a:srgbClr val="30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68680" y="4251959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F8FC"/>
                </a:solidFill>
                <a:latin typeface="Aptos"/>
              </a:defRPr>
            </a:pPr>
            <a:r>
              <a:t>Khoảng cách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8680" y="4764024"/>
            <a:ext cx="1828800" cy="-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BBCCF"/>
                </a:solidFill>
                <a:latin typeface="Aptos"/>
              </a:defRPr>
            </a:pPr>
          </a:p>
        </p:txBody>
      </p:sp>
      <p:sp>
        <p:nvSpPr>
          <p:cNvPr id="46" name="Rounded Rectangle 45"/>
          <p:cNvSpPr/>
          <p:nvPr/>
        </p:nvSpPr>
        <p:spPr>
          <a:xfrm>
            <a:off x="2926080" y="4050791"/>
            <a:ext cx="4297680" cy="621792"/>
          </a:xfrm>
          <a:prstGeom prst="roundRect">
            <a:avLst/>
          </a:prstGeom>
          <a:solidFill>
            <a:srgbClr val="122036"/>
          </a:solidFill>
          <a:ln>
            <a:solidFill>
              <a:srgbClr val="23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926080" y="4050791"/>
            <a:ext cx="64008" cy="621792"/>
          </a:xfrm>
          <a:prstGeom prst="rect">
            <a:avLst/>
          </a:prstGeom>
          <a:solidFill>
            <a:srgbClr val="50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154680" y="4251959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F8FC"/>
                </a:solidFill>
                <a:latin typeface="Aptos"/>
              </a:defRPr>
            </a:pPr>
            <a:r>
              <a:t>Euclidean / Manhattan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154680" y="4764024"/>
            <a:ext cx="3840480" cy="-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BBCCF"/>
                </a:solidFill>
                <a:latin typeface="Aptos"/>
              </a:defRPr>
            </a:pPr>
          </a:p>
        </p:txBody>
      </p:sp>
      <p:sp>
        <p:nvSpPr>
          <p:cNvPr id="50" name="Rounded Rectangle 49"/>
          <p:cNvSpPr/>
          <p:nvPr/>
        </p:nvSpPr>
        <p:spPr>
          <a:xfrm>
            <a:off x="7223760" y="4050791"/>
            <a:ext cx="4297680" cy="621792"/>
          </a:xfrm>
          <a:prstGeom prst="roundRect">
            <a:avLst/>
          </a:prstGeom>
          <a:solidFill>
            <a:srgbClr val="122036"/>
          </a:solidFill>
          <a:ln>
            <a:solidFill>
              <a:srgbClr val="23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223760" y="4050791"/>
            <a:ext cx="64008" cy="621792"/>
          </a:xfrm>
          <a:prstGeom prst="rect">
            <a:avLst/>
          </a:prstGeom>
          <a:solidFill>
            <a:srgbClr val="50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452360" y="4251959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F8FC"/>
                </a:solidFill>
                <a:latin typeface="Aptos"/>
              </a:defRPr>
            </a:pPr>
            <a:r>
              <a:t>Euclidean / Manhattan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52360" y="4764024"/>
            <a:ext cx="3840480" cy="-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BBCCF"/>
                </a:solidFill>
                <a:latin typeface="Aptos"/>
              </a:defRPr>
            </a:pPr>
          </a:p>
        </p:txBody>
      </p:sp>
      <p:sp>
        <p:nvSpPr>
          <p:cNvPr id="54" name="Rounded Rectangle 53"/>
          <p:cNvSpPr/>
          <p:nvPr/>
        </p:nvSpPr>
        <p:spPr>
          <a:xfrm>
            <a:off x="640080" y="4828031"/>
            <a:ext cx="2286000" cy="621792"/>
          </a:xfrm>
          <a:prstGeom prst="roundRect">
            <a:avLst/>
          </a:prstGeom>
          <a:solidFill>
            <a:srgbClr val="122036"/>
          </a:solidFill>
          <a:ln>
            <a:solidFill>
              <a:srgbClr val="23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40080" y="4828031"/>
            <a:ext cx="64008" cy="621792"/>
          </a:xfrm>
          <a:prstGeom prst="rect">
            <a:avLst/>
          </a:prstGeom>
          <a:solidFill>
            <a:srgbClr val="30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68680" y="5029199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F8FC"/>
                </a:solidFill>
                <a:latin typeface="Aptos"/>
              </a:defRPr>
            </a:pPr>
            <a:r>
              <a:t>Tham số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68680" y="5541264"/>
            <a:ext cx="1828800" cy="-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BBCCF"/>
                </a:solidFill>
                <a:latin typeface="Aptos"/>
              </a:defRPr>
            </a:pPr>
          </a:p>
        </p:txBody>
      </p:sp>
      <p:sp>
        <p:nvSpPr>
          <p:cNvPr id="58" name="Rounded Rectangle 57"/>
          <p:cNvSpPr/>
          <p:nvPr/>
        </p:nvSpPr>
        <p:spPr>
          <a:xfrm>
            <a:off x="2926080" y="4828031"/>
            <a:ext cx="4297680" cy="621792"/>
          </a:xfrm>
          <a:prstGeom prst="roundRect">
            <a:avLst/>
          </a:prstGeom>
          <a:solidFill>
            <a:srgbClr val="122036"/>
          </a:solidFill>
          <a:ln>
            <a:solidFill>
              <a:srgbClr val="23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2926080" y="4828031"/>
            <a:ext cx="64008" cy="621792"/>
          </a:xfrm>
          <a:prstGeom prst="rect">
            <a:avLst/>
          </a:prstGeom>
          <a:solidFill>
            <a:srgbClr val="50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154680" y="5029199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F8FC"/>
                </a:solidFill>
                <a:latin typeface="Aptos"/>
              </a:defRPr>
            </a:pPr>
            <a:r>
              <a:t>K, weights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154680" y="5541264"/>
            <a:ext cx="3840480" cy="-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BBCCF"/>
                </a:solidFill>
                <a:latin typeface="Aptos"/>
              </a:defRPr>
            </a:pPr>
          </a:p>
        </p:txBody>
      </p:sp>
      <p:sp>
        <p:nvSpPr>
          <p:cNvPr id="62" name="Rounded Rectangle 61"/>
          <p:cNvSpPr/>
          <p:nvPr/>
        </p:nvSpPr>
        <p:spPr>
          <a:xfrm>
            <a:off x="7223760" y="4828031"/>
            <a:ext cx="4297680" cy="621792"/>
          </a:xfrm>
          <a:prstGeom prst="roundRect">
            <a:avLst/>
          </a:prstGeom>
          <a:solidFill>
            <a:srgbClr val="122036"/>
          </a:solidFill>
          <a:ln>
            <a:solidFill>
              <a:srgbClr val="23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223760" y="4828031"/>
            <a:ext cx="64008" cy="621792"/>
          </a:xfrm>
          <a:prstGeom prst="rect">
            <a:avLst/>
          </a:prstGeom>
          <a:solidFill>
            <a:srgbClr val="50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452360" y="5029199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F8FC"/>
                </a:solidFill>
                <a:latin typeface="Aptos"/>
              </a:defRPr>
            </a:pPr>
            <a:r>
              <a:t>K, weights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452360" y="5541264"/>
            <a:ext cx="3840480" cy="-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BBCCF"/>
                </a:solidFill>
                <a:latin typeface="Aptos"/>
              </a:defRPr>
            </a:pPr>
          </a:p>
        </p:txBody>
      </p:sp>
      <p:sp>
        <p:nvSpPr>
          <p:cNvPr id="66" name="Rounded Rectangle 65"/>
          <p:cNvSpPr/>
          <p:nvPr/>
        </p:nvSpPr>
        <p:spPr>
          <a:xfrm>
            <a:off x="640080" y="5605272"/>
            <a:ext cx="2286000" cy="621792"/>
          </a:xfrm>
          <a:prstGeom prst="roundRect">
            <a:avLst/>
          </a:prstGeom>
          <a:solidFill>
            <a:srgbClr val="122036"/>
          </a:solidFill>
          <a:ln>
            <a:solidFill>
              <a:srgbClr val="23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40080" y="5605272"/>
            <a:ext cx="64008" cy="621792"/>
          </a:xfrm>
          <a:prstGeom prst="rect">
            <a:avLst/>
          </a:prstGeom>
          <a:solidFill>
            <a:srgbClr val="30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68680" y="58064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F8FC"/>
                </a:solidFill>
                <a:latin typeface="Aptos"/>
              </a:defRPr>
            </a:pPr>
            <a:r>
              <a:t>Tiền xử lý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68680" y="6318504"/>
            <a:ext cx="1828800" cy="-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BBCCF"/>
                </a:solidFill>
                <a:latin typeface="Aptos"/>
              </a:defRPr>
            </a:pPr>
          </a:p>
        </p:txBody>
      </p:sp>
      <p:sp>
        <p:nvSpPr>
          <p:cNvPr id="70" name="Rounded Rectangle 69"/>
          <p:cNvSpPr/>
          <p:nvPr/>
        </p:nvSpPr>
        <p:spPr>
          <a:xfrm>
            <a:off x="2926080" y="5605272"/>
            <a:ext cx="4297680" cy="621792"/>
          </a:xfrm>
          <a:prstGeom prst="roundRect">
            <a:avLst/>
          </a:prstGeom>
          <a:solidFill>
            <a:srgbClr val="122036"/>
          </a:solidFill>
          <a:ln>
            <a:solidFill>
              <a:srgbClr val="23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2926080" y="5605272"/>
            <a:ext cx="64008" cy="621792"/>
          </a:xfrm>
          <a:prstGeom prst="rect">
            <a:avLst/>
          </a:prstGeom>
          <a:solidFill>
            <a:srgbClr val="50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154680" y="580644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F8FC"/>
                </a:solidFill>
                <a:latin typeface="Aptos"/>
              </a:defRPr>
            </a:pPr>
            <a:r>
              <a:t>Nên chuẩn hóa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154680" y="6318504"/>
            <a:ext cx="3840480" cy="-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BBCCF"/>
                </a:solidFill>
                <a:latin typeface="Aptos"/>
              </a:defRPr>
            </a:pPr>
          </a:p>
        </p:txBody>
      </p:sp>
      <p:sp>
        <p:nvSpPr>
          <p:cNvPr id="74" name="Rounded Rectangle 73"/>
          <p:cNvSpPr/>
          <p:nvPr/>
        </p:nvSpPr>
        <p:spPr>
          <a:xfrm>
            <a:off x="7223760" y="5605272"/>
            <a:ext cx="4297680" cy="621792"/>
          </a:xfrm>
          <a:prstGeom prst="roundRect">
            <a:avLst/>
          </a:prstGeom>
          <a:solidFill>
            <a:srgbClr val="122036"/>
          </a:solidFill>
          <a:ln>
            <a:solidFill>
              <a:srgbClr val="23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223760" y="5605272"/>
            <a:ext cx="64008" cy="621792"/>
          </a:xfrm>
          <a:prstGeom prst="rect">
            <a:avLst/>
          </a:prstGeom>
          <a:solidFill>
            <a:srgbClr val="50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452360" y="580644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F8FC"/>
                </a:solidFill>
                <a:latin typeface="Aptos"/>
              </a:defRPr>
            </a:pPr>
            <a:r>
              <a:t>Nên chuẩn hóa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452360" y="6318504"/>
            <a:ext cx="3840480" cy="-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BBCCF"/>
                </a:solidFill>
                <a:latin typeface="Aptos"/>
              </a:defRPr>
            </a:p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0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47120" y="641908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ABBCCF"/>
                </a:solidFill>
              </a:defRPr>
            </a:pPr>
            <a: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0D3BE"/>
                </a:solidFill>
                <a:latin typeface="Aptos"/>
              </a:defRPr>
            </a:pPr>
            <a:r>
              <a:t>10 / PRACTICAL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F5F8FC"/>
                </a:solidFill>
                <a:latin typeface="Aptos"/>
              </a:defRPr>
            </a:pPr>
            <a:r>
              <a:t>Ưu điểm, hạn chế và ứng dụng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3429000" cy="3886200"/>
          </a:xfrm>
          <a:prstGeom prst="roundRect">
            <a:avLst/>
          </a:prstGeom>
          <a:solidFill>
            <a:srgbClr val="122036"/>
          </a:solidFill>
          <a:ln>
            <a:solidFill>
              <a:srgbClr val="23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00200"/>
            <a:ext cx="64008" cy="3886200"/>
          </a:xfrm>
          <a:prstGeom prst="rect">
            <a:avLst/>
          </a:prstGeom>
          <a:solidFill>
            <a:srgbClr val="30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01368"/>
            <a:ext cx="2971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F8FC"/>
                </a:solidFill>
                <a:latin typeface="Aptos"/>
              </a:defRPr>
            </a:pPr>
            <a:r>
              <a:t>ƯU ĐIỂM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13432"/>
            <a:ext cx="29718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BBCCF"/>
                </a:solidFill>
                <a:latin typeface="Aptos"/>
              </a:defRPr>
            </a:pPr>
            <a:r>
              <a:t>• Dễ hiểu, dễ triển khai</a:t>
            </a:r>
            <a:br/>
            <a:r>
              <a:t>• Không giả định mạnh về phân phối</a:t>
            </a:r>
            <a:br/>
            <a:r>
              <a:t>• Dùng được cho Classification &amp; Regression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00200"/>
            <a:ext cx="3429000" cy="3886200"/>
          </a:xfrm>
          <a:prstGeom prst="roundRect">
            <a:avLst/>
          </a:prstGeom>
          <a:solidFill>
            <a:srgbClr val="122036"/>
          </a:solidFill>
          <a:ln>
            <a:solidFill>
              <a:srgbClr val="23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600200"/>
            <a:ext cx="64008" cy="3886200"/>
          </a:xfrm>
          <a:prstGeom prst="rect">
            <a:avLst/>
          </a:prstGeom>
          <a:solidFill>
            <a:srgbClr val="F4C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801368"/>
            <a:ext cx="2971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F8FC"/>
                </a:solidFill>
                <a:latin typeface="Aptos"/>
              </a:defRPr>
            </a:pPr>
            <a:r>
              <a:t>HẠN CHẾ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313432"/>
            <a:ext cx="29718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BBCCF"/>
                </a:solidFill>
                <a:latin typeface="Aptos"/>
              </a:defRPr>
            </a:pPr>
            <a:r>
              <a:t>• Dự đoán chậm khi dữ liệu lớn</a:t>
            </a:r>
            <a:br/>
            <a:r>
              <a:t>• Nhạy với K và thang đo</a:t>
            </a:r>
            <a:br/>
            <a:r>
              <a:t>• Dữ liệu nhiều chiều gây Curse of Dimensionality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600200"/>
            <a:ext cx="3429000" cy="3886200"/>
          </a:xfrm>
          <a:prstGeom prst="roundRect">
            <a:avLst/>
          </a:prstGeom>
          <a:solidFill>
            <a:srgbClr val="122036"/>
          </a:solidFill>
          <a:ln>
            <a:solidFill>
              <a:srgbClr val="23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600200"/>
            <a:ext cx="64008" cy="3886200"/>
          </a:xfrm>
          <a:prstGeom prst="rect">
            <a:avLst/>
          </a:prstGeom>
          <a:solidFill>
            <a:srgbClr val="30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1801368"/>
            <a:ext cx="2971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F8FC"/>
                </a:solidFill>
                <a:latin typeface="Aptos"/>
              </a:defRPr>
            </a:pPr>
            <a:r>
              <a:t>ỨNG DỤNG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313432"/>
            <a:ext cx="29718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BBCCF"/>
                </a:solidFill>
                <a:latin typeface="Aptos"/>
              </a:defRPr>
            </a:pPr>
            <a:r>
              <a:t>• Nhận dạng mẫu</a:t>
            </a:r>
            <a:br/>
            <a:r>
              <a:t>• Phân loại khách hàng</a:t>
            </a:r>
            <a:br/>
            <a:r>
              <a:t>• Gợi ý sản phẩm</a:t>
            </a:r>
            <a:br/>
            <a:r>
              <a:t>• Phát hiện tương đồng</a:t>
            </a:r>
            <a:br/>
            <a:r>
              <a:t>• Dự đoán dựa trên dữ liệu lân cận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0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47120" y="641908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ABBCCF"/>
                </a:solidFill>
              </a:defRPr>
            </a:pPr>
            <a: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0D3BE"/>
                </a:solidFill>
                <a:latin typeface="Aptos"/>
              </a:defRPr>
            </a:pPr>
            <a:r>
              <a:t>11 /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F5F8FC"/>
                </a:solidFill>
                <a:latin typeface="Aptos"/>
              </a:defRPr>
            </a:pPr>
            <a:r>
              <a:t>Tóm tắt KNN trong một hình</a:t>
            </a:r>
          </a:p>
        </p:txBody>
      </p:sp>
      <p:sp>
        <p:nvSpPr>
          <p:cNvPr id="6" name="Oval 5"/>
          <p:cNvSpPr/>
          <p:nvPr/>
        </p:nvSpPr>
        <p:spPr>
          <a:xfrm>
            <a:off x="1828800" y="1920240"/>
            <a:ext cx="1828800" cy="1828800"/>
          </a:xfrm>
          <a:prstGeom prst="ellipse">
            <a:avLst/>
          </a:prstGeom>
          <a:solidFill>
            <a:srgbClr val="182B44"/>
          </a:solidFill>
          <a:ln w="25400">
            <a:solidFill>
              <a:srgbClr val="30D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20240" y="26060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5F8FC"/>
                </a:solidFill>
                <a:latin typeface="Aptos"/>
              </a:defRPr>
            </a:pPr>
            <a:r>
              <a:t>DỮ LIỆU</a:t>
            </a:r>
          </a:p>
        </p:txBody>
      </p:sp>
      <p:sp>
        <p:nvSpPr>
          <p:cNvPr id="8" name="Oval 7"/>
          <p:cNvSpPr/>
          <p:nvPr/>
        </p:nvSpPr>
        <p:spPr>
          <a:xfrm>
            <a:off x="4846320" y="1920240"/>
            <a:ext cx="1828800" cy="1828800"/>
          </a:xfrm>
          <a:prstGeom prst="ellipse">
            <a:avLst/>
          </a:prstGeom>
          <a:solidFill>
            <a:srgbClr val="182B44"/>
          </a:solidFill>
          <a:ln w="25400">
            <a:solidFill>
              <a:srgbClr val="30D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37759" y="26060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5F8FC"/>
                </a:solidFill>
                <a:latin typeface="Aptos"/>
              </a:defRPr>
            </a:pPr>
            <a:r>
              <a:t>K LÁNG GIỀNG</a:t>
            </a:r>
          </a:p>
        </p:txBody>
      </p:sp>
      <p:sp>
        <p:nvSpPr>
          <p:cNvPr id="10" name="Oval 9"/>
          <p:cNvSpPr/>
          <p:nvPr/>
        </p:nvSpPr>
        <p:spPr>
          <a:xfrm>
            <a:off x="8138160" y="1920240"/>
            <a:ext cx="1828800" cy="1828800"/>
          </a:xfrm>
          <a:prstGeom prst="ellipse">
            <a:avLst/>
          </a:prstGeom>
          <a:solidFill>
            <a:srgbClr val="182B44"/>
          </a:solidFill>
          <a:ln w="25400">
            <a:solidFill>
              <a:srgbClr val="30D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26060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5F8FC"/>
                </a:solidFill>
                <a:latin typeface="Aptos"/>
              </a:defRPr>
            </a:pPr>
            <a:r>
              <a:t>DỰ ĐOÁN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77639" y="2514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4C95D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2514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4C95D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466344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5F8FC"/>
                </a:solidFill>
                <a:latin typeface="Aptos"/>
              </a:defRPr>
            </a:pPr>
            <a:r>
              <a:t>KNN = tìm các điểm gần nhất + dùng chúng để suy ra kết quả cho mẫu mới.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553212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BBCCF"/>
                </a:solidFill>
                <a:latin typeface="Aptos"/>
              </a:defRPr>
            </a:pPr>
            <a:r>
              <a:t>Chọn K hợp lý • Chuẩn hóa dữ liệu • Chọn khoảng cách phù hợp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0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47120" y="641908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ABBCCF"/>
                </a:solidFill>
              </a:defRPr>
            </a:pPr>
            <a: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0D3BE"/>
                </a:solidFill>
                <a:latin typeface="Aptos"/>
              </a:defRPr>
            </a:pPr>
            <a:r>
              <a:t>12 / 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F5F8FC"/>
                </a:solidFill>
                <a:latin typeface="Aptos"/>
              </a:defRPr>
            </a:pPr>
            <a:r>
              <a:t>Cảm ơn thầy cô và các bạn!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5943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0D3BE"/>
                </a:solidFill>
                <a:latin typeface="Aptos"/>
              </a:defRPr>
            </a:pPr>
            <a:r>
              <a:t>K-Nearest Neighbors (KNN)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5F8FC"/>
                </a:solidFill>
                <a:latin typeface="Aptos"/>
              </a:defRPr>
            </a:pPr>
            <a:r>
              <a:t>Học máy bằng cách nhìn vào những người hàng xóm gần nhất.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7548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4C95D"/>
                </a:solidFill>
                <a:latin typeface="Aptos"/>
              </a:defRPr>
            </a:pPr>
            <a:r>
              <a:t>Q&amp;A</a:t>
            </a:r>
          </a:p>
        </p:txBody>
      </p:sp>
      <p:sp>
        <p:nvSpPr>
          <p:cNvPr id="9" name="Oval 8"/>
          <p:cNvSpPr/>
          <p:nvPr/>
        </p:nvSpPr>
        <p:spPr>
          <a:xfrm>
            <a:off x="8229600" y="1828800"/>
            <a:ext cx="201168" cy="201168"/>
          </a:xfrm>
          <a:prstGeom prst="ellipse">
            <a:avLst/>
          </a:prstGeom>
          <a:solidFill>
            <a:srgbClr val="30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0" y="2743200"/>
            <a:ext cx="201168" cy="201168"/>
          </a:xfrm>
          <a:prstGeom prst="ellipse">
            <a:avLst/>
          </a:prstGeom>
          <a:solidFill>
            <a:srgbClr val="30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241280" y="1920240"/>
            <a:ext cx="201168" cy="201168"/>
          </a:xfrm>
          <a:prstGeom prst="ellipse">
            <a:avLst/>
          </a:prstGeom>
          <a:solidFill>
            <a:srgbClr val="30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0" y="3749039"/>
            <a:ext cx="201168" cy="201168"/>
          </a:xfrm>
          <a:prstGeom prst="ellipse">
            <a:avLst/>
          </a:prstGeom>
          <a:solidFill>
            <a:srgbClr val="30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12480" y="4114800"/>
            <a:ext cx="201168" cy="201168"/>
          </a:xfrm>
          <a:prstGeom prst="ellipse">
            <a:avLst/>
          </a:prstGeom>
          <a:solidFill>
            <a:srgbClr val="30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607040" y="3200400"/>
            <a:ext cx="201168" cy="201168"/>
          </a:xfrm>
          <a:prstGeom prst="ellipse">
            <a:avLst/>
          </a:prstGeom>
          <a:solidFill>
            <a:srgbClr val="30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235440" y="2514600"/>
            <a:ext cx="457200" cy="457200"/>
          </a:xfrm>
          <a:prstGeom prst="ellipse">
            <a:avLst/>
          </a:prstGeom>
          <a:solidFill>
            <a:srgbClr val="F4C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